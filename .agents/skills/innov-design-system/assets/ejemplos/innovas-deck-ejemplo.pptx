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9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novas-horizont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381000"/>
            <a:ext cx="2095500" cy="674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14325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5CC4B0"/>
                </a:solidFill>
                <a:latin typeface="IBM Plex Mono"/>
              </a:rPr>
              <a:t>PRIMERA CONVERSACIÓN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48050"/>
            <a:ext cx="10972800" cy="2190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300" b="1" i="0">
                <a:solidFill>
                  <a:srgbClr val="F6F4EF"/>
                </a:solidFill>
                <a:latin typeface="Newsreader"/>
              </a:rPr>
              <a:t>la IA de tu empresa, </a:t>
            </a:r>
            <a:r>
              <a:rPr sz="6300" b="1" i="1">
                <a:solidFill>
                  <a:srgbClr val="D4F36B"/>
                </a:solidFill>
                <a:latin typeface="Newsreader"/>
              </a:rPr>
              <a:t>de punta a punta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00750"/>
            <a:ext cx="109728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6F4EF"/>
                </a:solidFill>
                <a:latin typeface="Schibsted Grotesk"/>
              </a:rPr>
              <a:t>Ejemplo de referencia del sistema de diseño · 2026-10-30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0F6B60"/>
                </a:solidFill>
                <a:latin typeface="IBM Plex Mono"/>
              </a:rPr>
              <a:t>01 · MANIFIESTO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66800"/>
            <a:ext cx="109728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00" b="0" i="0">
                <a:solidFill>
                  <a:srgbClr val="15191A"/>
                </a:solidFill>
                <a:latin typeface="Newsreader"/>
              </a:rPr>
              <a:t>de IA suelta a </a:t>
            </a:r>
            <a:r>
              <a:rPr sz="3900" b="0" i="1">
                <a:solidFill>
                  <a:srgbClr val="0F6B60"/>
                </a:solidFill>
                <a:latin typeface="Newsreader"/>
              </a:rPr>
              <a:t>IA con gobierno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71750"/>
            <a:ext cx="476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A3A69F"/>
                </a:solidFill>
                <a:latin typeface="IBM Plex Mono"/>
              </a:rPr>
              <a:t>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0" y="2571750"/>
            <a:ext cx="476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0F6B60"/>
                </a:solidFill>
                <a:latin typeface="IBM Plex Mono"/>
              </a:rPr>
              <a:t>CON INNOV.AS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" y="2895600"/>
            <a:ext cx="10972800" cy="0"/>
          </a:xfrm>
          <a:prstGeom prst="line">
            <a:avLst/>
          </a:prstGeom>
          <a:ln w="14287">
            <a:solidFill>
              <a:srgbClr val="151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3048000"/>
            <a:ext cx="47625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5191A"/>
                </a:solidFill>
                <a:latin typeface="Schibsted Grotesk"/>
              </a:rPr>
              <a:t>La IA quedó en una o dos personas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3048000"/>
            <a:ext cx="114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0" i="0">
                <a:solidFill>
                  <a:srgbClr val="0F6B60"/>
                </a:solidFill>
                <a:latin typeface="IBM Plex Mono"/>
              </a:rPr>
              <a:t>──→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3048000"/>
            <a:ext cx="47625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15191A"/>
                </a:solidFill>
                <a:latin typeface="Schibsted Grotesk"/>
              </a:rPr>
              <a:t>Toda la empresa trabaja con IA y con permisos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3771900"/>
            <a:ext cx="10972800" cy="0"/>
          </a:xfrm>
          <a:prstGeom prst="line">
            <a:avLst/>
          </a:prstGeom>
          <a:ln w="9525">
            <a:solidFill>
              <a:srgbClr val="A3A6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3848100"/>
            <a:ext cx="47625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5191A"/>
                </a:solidFill>
                <a:latin typeface="Schibsted Grotesk"/>
              </a:rPr>
              <a:t>Cada área prueba herramientas sueltas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0" y="3848100"/>
            <a:ext cx="114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0" i="0">
                <a:solidFill>
                  <a:srgbClr val="0F6B60"/>
                </a:solidFill>
                <a:latin typeface="IBM Plex Mono"/>
              </a:rPr>
              <a:t>──→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900" y="3848100"/>
            <a:ext cx="47625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15191A"/>
                </a:solidFill>
                <a:latin typeface="Schibsted Grotesk"/>
              </a:rPr>
              <a:t>Una base común, con agentes que toman trabajo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" y="4572000"/>
            <a:ext cx="10972800" cy="0"/>
          </a:xfrm>
          <a:prstGeom prst="line">
            <a:avLst/>
          </a:prstGeom>
          <a:ln w="9525">
            <a:solidFill>
              <a:srgbClr val="A3A6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600" y="4648200"/>
            <a:ext cx="47625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5191A"/>
                </a:solidFill>
                <a:latin typeface="Schibsted Grotesk"/>
              </a:rPr>
              <a:t>Nadie sabe qué datos salen de la empresa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0" y="4648200"/>
            <a:ext cx="114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0" i="0">
                <a:solidFill>
                  <a:srgbClr val="0F6B60"/>
                </a:solidFill>
                <a:latin typeface="IBM Plex Mono"/>
              </a:rPr>
              <a:t>──→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4648200"/>
            <a:ext cx="47625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15191A"/>
                </a:solidFill>
                <a:latin typeface="Schibsted Grotesk"/>
              </a:rPr>
              <a:t>Tu gente decide, los agentes ejecutan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" y="5372100"/>
            <a:ext cx="10972800" cy="0"/>
          </a:xfrm>
          <a:prstGeom prst="line">
            <a:avLst/>
          </a:prstGeom>
          <a:ln w="9525">
            <a:solidFill>
              <a:srgbClr val="A3A6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9600" y="64008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3A69F"/>
                </a:solidFill>
                <a:latin typeface="IBM Plex Mono"/>
              </a:rPr>
              <a:t>Deck de referencia  ·  02</a:t>
            </a:r>
          </a:p>
        </p:txBody>
      </p:sp>
      <p:pic>
        <p:nvPicPr>
          <p:cNvPr id="20" name="Picture 19" descr="innovas-isotip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6324600"/>
            <a:ext cx="209981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0F6B60"/>
                </a:solidFill>
                <a:latin typeface="IBM Plex Mono"/>
              </a:rPr>
              <a:t>02 · LO QUE CONTRATA LA EMPRESA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66800"/>
            <a:ext cx="109728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00" b="0" i="0">
                <a:solidFill>
                  <a:srgbClr val="15191A"/>
                </a:solidFill>
                <a:latin typeface="Newsreader"/>
              </a:rPr>
              <a:t>infraestructura, agentes y </a:t>
            </a:r>
            <a:r>
              <a:rPr sz="3900" b="0" i="1">
                <a:solidFill>
                  <a:srgbClr val="0F6B60"/>
                </a:solidFill>
                <a:latin typeface="Newsreader"/>
              </a:rPr>
              <a:t>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67000"/>
            <a:ext cx="95250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6B60"/>
                </a:solidFill>
                <a:latin typeface="IBM Plex Mono"/>
              </a:rPr>
              <a:t>──→  </a:t>
            </a:r>
            <a:r>
              <a:rPr sz="1650" b="0" i="0">
                <a:solidFill>
                  <a:srgbClr val="15191A"/>
                </a:solidFill>
                <a:latin typeface="Schibsted Grotesk"/>
              </a:rPr>
              <a:t>Central IA como base: permisos, datos y herramientas en un solo lugar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6B60"/>
                </a:solidFill>
                <a:latin typeface="IBM Plex Mono"/>
              </a:rPr>
              <a:t>──→  </a:t>
            </a:r>
            <a:r>
              <a:rPr sz="1650" b="0" i="0">
                <a:solidFill>
                  <a:srgbClr val="15191A"/>
                </a:solidFill>
                <a:latin typeface="Schibsted Grotesk"/>
              </a:rPr>
              <a:t>Agentes que toman trabajo real en cada área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6B60"/>
                </a:solidFill>
                <a:latin typeface="IBM Plex Mono"/>
              </a:rPr>
              <a:t>──→  </a:t>
            </a:r>
            <a:r>
              <a:rPr sz="1650" b="0" i="0">
                <a:solidFill>
                  <a:srgbClr val="15191A"/>
                </a:solidFill>
                <a:latin typeface="Schibsted Grotesk"/>
              </a:rPr>
              <a:t>Un equipo que acompaña cada ola hasta la operación continua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008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3A69F"/>
                </a:solidFill>
                <a:latin typeface="IBM Plex Mono"/>
              </a:rPr>
              <a:t>Deck de referencia  ·  03</a:t>
            </a:r>
          </a:p>
        </p:txBody>
      </p:sp>
      <p:pic>
        <p:nvPicPr>
          <p:cNvPr id="6" name="Picture 5" descr="innovas-isotip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6324600"/>
            <a:ext cx="209981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0F6B60"/>
                </a:solidFill>
                <a:latin typeface="IBM Plex Mono"/>
              </a:rPr>
              <a:t>03 · UN PROCESO, NO UN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66800"/>
            <a:ext cx="109728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00" b="0" i="0">
                <a:solidFill>
                  <a:srgbClr val="15191A"/>
                </a:solidFill>
                <a:latin typeface="Newsreader"/>
              </a:rPr>
              <a:t>el camino del cliente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3333750"/>
            <a:ext cx="10972800" cy="0"/>
          </a:xfrm>
          <a:prstGeom prst="line">
            <a:avLst/>
          </a:prstGeom>
          <a:ln w="14287">
            <a:solidFill>
              <a:srgbClr val="1519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09600" y="3248025"/>
            <a:ext cx="171450" cy="171450"/>
          </a:xfrm>
          <a:prstGeom prst="rect">
            <a:avLst/>
          </a:prstGeom>
          <a:solidFill>
            <a:srgbClr val="F6F4EF"/>
          </a:solidFill>
          <a:ln w="9525">
            <a:solidFill>
              <a:srgbClr val="1519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3600450"/>
            <a:ext cx="204216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A3A69F"/>
                </a:solidFill>
                <a:latin typeface="IBM Plex Mono"/>
              </a:rPr>
              <a:t>01  ──→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86200"/>
            <a:ext cx="196596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5191A"/>
                </a:solidFill>
                <a:latin typeface="Schibsted Grotesk"/>
              </a:rPr>
              <a:t>Primera conversación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4160" y="3248025"/>
            <a:ext cx="171450" cy="171450"/>
          </a:xfrm>
          <a:prstGeom prst="rect">
            <a:avLst/>
          </a:prstGeom>
          <a:solidFill>
            <a:srgbClr val="0F6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4160" y="3600450"/>
            <a:ext cx="204216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0F6B60"/>
                </a:solidFill>
                <a:latin typeface="IBM Plex Mono"/>
              </a:rPr>
              <a:t>02  ──→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4160" y="3886200"/>
            <a:ext cx="196596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 i="0">
                <a:solidFill>
                  <a:srgbClr val="15191A"/>
                </a:solidFill>
                <a:latin typeface="Schibsted Grotesk"/>
              </a:rPr>
              <a:t>Radar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8720" y="3248025"/>
            <a:ext cx="171450" cy="171450"/>
          </a:xfrm>
          <a:prstGeom prst="rect">
            <a:avLst/>
          </a:prstGeom>
          <a:solidFill>
            <a:srgbClr val="F6F4EF"/>
          </a:solidFill>
          <a:ln w="9525">
            <a:solidFill>
              <a:srgbClr val="1519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8720" y="3600450"/>
            <a:ext cx="204216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A3A69F"/>
                </a:solidFill>
                <a:latin typeface="IBM Plex Mono"/>
              </a:rPr>
              <a:t>03  ──→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720" y="3886200"/>
            <a:ext cx="196596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5191A"/>
                </a:solidFill>
                <a:latin typeface="Schibsted Grotesk"/>
              </a:rPr>
              <a:t>Ola cero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3280" y="3248025"/>
            <a:ext cx="171450" cy="171450"/>
          </a:xfrm>
          <a:prstGeom prst="rect">
            <a:avLst/>
          </a:prstGeom>
          <a:solidFill>
            <a:srgbClr val="F6F4EF"/>
          </a:solidFill>
          <a:ln w="9525">
            <a:solidFill>
              <a:srgbClr val="1519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3280" y="3600450"/>
            <a:ext cx="204216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A3A69F"/>
                </a:solidFill>
                <a:latin typeface="IBM Plex Mono"/>
              </a:rPr>
              <a:t>04  ──→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280" y="3886200"/>
            <a:ext cx="196596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5191A"/>
                </a:solidFill>
                <a:latin typeface="Schibsted Grotesk"/>
              </a:rPr>
              <a:t>Olas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87840" y="3248025"/>
            <a:ext cx="171450" cy="171450"/>
          </a:xfrm>
          <a:prstGeom prst="rect">
            <a:avLst/>
          </a:prstGeom>
          <a:solidFill>
            <a:srgbClr val="F6F4EF"/>
          </a:solidFill>
          <a:ln w="9525">
            <a:solidFill>
              <a:srgbClr val="1519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7840" y="3600450"/>
            <a:ext cx="204216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A3A69F"/>
                </a:solidFill>
                <a:latin typeface="IBM Plex Mono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7840" y="3886200"/>
            <a:ext cx="196596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15191A"/>
                </a:solidFill>
                <a:latin typeface="Schibsted Grotesk"/>
              </a:rPr>
              <a:t>Operación continua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143500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5191A"/>
                </a:solidFill>
                <a:latin typeface="Schibsted Grotesk"/>
              </a:rPr>
              <a:t>El Radar arma el Mapa del Método y define la ola cero.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4008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3A69F"/>
                </a:solidFill>
                <a:latin typeface="IBM Plex Mono"/>
              </a:rPr>
              <a:t>Deck de referencia  ·  04</a:t>
            </a:r>
          </a:p>
        </p:txBody>
      </p:sp>
      <p:pic>
        <p:nvPicPr>
          <p:cNvPr id="22" name="Picture 21" descr="innovas-isotip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6324600"/>
            <a:ext cx="209981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38125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5CC4B0"/>
                </a:solidFill>
                <a:latin typeface="IBM Plex Mono"/>
              </a:rPr>
              <a:t>04 ·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686050"/>
            <a:ext cx="1097280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7200" b="1" i="0">
                <a:solidFill>
                  <a:srgbClr val="F6F4EF"/>
                </a:solidFill>
                <a:latin typeface="Newsreader"/>
              </a:rPr>
              <a:t>tu gente decide, </a:t>
            </a:r>
            <a:r>
              <a:rPr sz="7200" b="1" i="1">
                <a:solidFill>
                  <a:srgbClr val="D4F36B"/>
                </a:solidFill>
                <a:latin typeface="Newsreader"/>
              </a:rPr>
              <a:t>los agentes ejecutan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008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3A69F"/>
                </a:solidFill>
                <a:latin typeface="IBM Plex Mono"/>
              </a:rPr>
              <a:t>Deck de referencia  ·  05</a:t>
            </a:r>
          </a:p>
        </p:txBody>
      </p:sp>
      <p:pic>
        <p:nvPicPr>
          <p:cNvPr id="5" name="Picture 4" descr="innovas-isotipo-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6324600"/>
            <a:ext cx="209981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0F6B60"/>
                </a:solidFill>
                <a:latin typeface="IBM Plex Mono"/>
              </a:rPr>
              <a:t>05 · QUIÉNES SOMOS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66800"/>
            <a:ext cx="109728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00" b="0" i="0">
                <a:solidFill>
                  <a:srgbClr val="15191A"/>
                </a:solidFill>
                <a:latin typeface="Newsreader"/>
              </a:rPr>
              <a:t>el equipo </a:t>
            </a:r>
            <a:r>
              <a:rPr sz="3900" b="0" i="1">
                <a:solidFill>
                  <a:srgbClr val="0F6B60"/>
                </a:solidFill>
                <a:latin typeface="Newsreader"/>
              </a:rPr>
              <a:t>detrás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762250"/>
            <a:ext cx="3505200" cy="2857500"/>
          </a:xfrm>
          <a:prstGeom prst="rect">
            <a:avLst/>
          </a:prstGeom>
          <a:solidFill>
            <a:srgbClr val="ECEA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3009900"/>
            <a:ext cx="29718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 i="0">
                <a:solidFill>
                  <a:srgbClr val="15191A"/>
                </a:solidFill>
                <a:latin typeface="Newsreader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4191000"/>
            <a:ext cx="2971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5191A"/>
                </a:solidFill>
                <a:latin typeface="Schibsted Grotesk"/>
              </a:rPr>
              <a:t>años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514850"/>
            <a:ext cx="2971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5191A"/>
                </a:solidFill>
                <a:latin typeface="Schibsted Grotesk"/>
              </a:rPr>
              <a:t>transformando organizaciones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762250"/>
            <a:ext cx="3505200" cy="2857500"/>
          </a:xfrm>
          <a:prstGeom prst="rect">
            <a:avLst/>
          </a:prstGeom>
          <a:solidFill>
            <a:srgbClr val="ECEA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0100" y="3009900"/>
            <a:ext cx="29718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 i="0">
                <a:solidFill>
                  <a:srgbClr val="15191A"/>
                </a:solidFill>
                <a:latin typeface="Newsreader"/>
              </a:rPr>
              <a:t>+150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4191000"/>
            <a:ext cx="2971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5191A"/>
                </a:solidFill>
                <a:latin typeface="Schibsted Grotesk"/>
              </a:rPr>
              <a:t>organizaciones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4514850"/>
            <a:ext cx="2971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5191A"/>
                </a:solidFill>
                <a:latin typeface="Schibsted Grotesk"/>
              </a:rPr>
              <a:t>para las que trabajó nuestro equipo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0" y="2762250"/>
            <a:ext cx="3505200" cy="2857500"/>
          </a:xfrm>
          <a:prstGeom prst="rect">
            <a:avLst/>
          </a:prstGeom>
          <a:solidFill>
            <a:srgbClr val="ECEA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3009900"/>
            <a:ext cx="29718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 i="0">
                <a:solidFill>
                  <a:srgbClr val="15191A"/>
                </a:solidFill>
                <a:latin typeface="Newsreader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4191000"/>
            <a:ext cx="2971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5191A"/>
                </a:solidFill>
                <a:latin typeface="Schibsted Grotesk"/>
              </a:rPr>
              <a:t>países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514850"/>
            <a:ext cx="2971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5191A"/>
                </a:solidFill>
                <a:latin typeface="Schibsted Grotesk"/>
              </a:rPr>
              <a:t>con proyectos de nuestro equipo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008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3A69F"/>
                </a:solidFill>
                <a:latin typeface="IBM Plex Mono"/>
              </a:rPr>
              <a:t>Deck de referencia  ·  06</a:t>
            </a:r>
          </a:p>
        </p:txBody>
      </p:sp>
      <p:pic>
        <p:nvPicPr>
          <p:cNvPr id="17" name="Picture 16" descr="innovas-isotip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6324600"/>
            <a:ext cx="209981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267825" y="0"/>
            <a:ext cx="2924175" cy="6858000"/>
          </a:xfrm>
          <a:prstGeom prst="rect">
            <a:avLst/>
          </a:prstGeom>
          <a:solidFill>
            <a:srgbClr val="0F6B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381250"/>
            <a:ext cx="8572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0F6B60"/>
                </a:solidFill>
                <a:latin typeface="IBM Plex Mono"/>
              </a:rPr>
              <a:t>SIGUIENTE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86050"/>
            <a:ext cx="8191500" cy="2190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300" b="1" i="0">
                <a:solidFill>
                  <a:srgbClr val="15191A"/>
                </a:solidFill>
                <a:latin typeface="Newsreader"/>
              </a:rPr>
              <a:t>empecemos por </a:t>
            </a:r>
            <a:r>
              <a:rPr sz="6300" b="1" i="1">
                <a:solidFill>
                  <a:srgbClr val="0F6B60"/>
                </a:solidFill>
                <a:latin typeface="Newsreader"/>
              </a:rPr>
              <a:t>la primera conversación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143500"/>
            <a:ext cx="8191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191A"/>
                </a:solidFill>
                <a:latin typeface="IBM Plex Mono"/>
              </a:rPr>
              <a:t>innov.as</a:t>
            </a:r>
          </a:p>
        </p:txBody>
      </p:sp>
      <p:pic>
        <p:nvPicPr>
          <p:cNvPr id="6" name="Picture 5" descr="innovas-horizontal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5638800"/>
            <a:ext cx="1905000" cy="6132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de referencia</dc:title>
  <dc:subject/>
  <dc:creator>INNOV.AS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